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9E9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178308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Componentes React JS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2377440" y="278892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</a:rPr>
              <a:t>Conceitos e Exemplos com Funções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9E9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Funções e Classes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12648" y="822960"/>
            <a:ext cx="10972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5555"/>
                </a:solidFill>
              </a:rPr>
              <a:t>Duas formas clássicas de definir componentes React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078992"/>
            <a:ext cx="10972800" cy="0"/>
          </a:xfrm>
          <a:prstGeom prst="line">
            <a:avLst/>
          </a:prstGeom>
          <a:noFill/>
          <a:ln w="12700">
            <a:solidFill>
              <a:srgbClr val="CFCF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508760"/>
            <a:ext cx="5212080" cy="4480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buSzPct val="100000"/>
              <a:buChar char="•"/>
            </a:pPr>
            <a:r>
              <a:rPr lang="en-US" sz="2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React, um componente pode ser definido por função ou por classe.</a:t>
            </a:r>
            <a:endParaRPr lang="en-US" sz="2200" dirty="0"/>
          </a:p>
          <a:p>
            <a:pPr marL="177800" indent="-177800">
              <a:buSzPct val="100000"/>
              <a:buChar char="•"/>
            </a:pPr>
            <a:r>
              <a:rPr lang="en-US" sz="2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Hoje, componentes funcionais são preferidos por simplicidade e integração com Hooks.</a:t>
            </a:r>
            <a:endParaRPr lang="en-US" sz="2200" dirty="0"/>
          </a:p>
          <a:p>
            <a:pPr marL="177800" indent="-177800">
              <a:buSzPct val="100000"/>
              <a:buChar char="•"/>
            </a:pPr>
            <a:r>
              <a:rPr lang="en-US" sz="2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Classes continuam importantes para compreensão histórica e manutenção de sistemas legados.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172200" y="1554480"/>
            <a:ext cx="4846320" cy="3017520"/>
          </a:xfrm>
          <a:prstGeom prst="roundRect">
            <a:avLst>
              <a:gd name="adj" fmla="val 1818"/>
            </a:avLst>
          </a:prstGeom>
          <a:solidFill>
            <a:srgbClr val="F7F7F7"/>
          </a:solidFill>
          <a:ln w="12700">
            <a:solidFill>
              <a:srgbClr val="D8D8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0" y="1600200"/>
            <a:ext cx="4754880" cy="2926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Welcome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h1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Olá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h1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WelcomeClass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extends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Component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h1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Olá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h1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9E9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Maneiras de definir um componente customizado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12648" y="822960"/>
            <a:ext cx="10972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5555"/>
                </a:solidFill>
              </a:rPr>
              <a:t>Um componente customizado representa uma parte reutilizável da interface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078992"/>
            <a:ext cx="10972800" cy="0"/>
          </a:xfrm>
          <a:prstGeom prst="line">
            <a:avLst/>
          </a:prstGeom>
          <a:noFill/>
          <a:ln w="12700">
            <a:solidFill>
              <a:srgbClr val="CFCF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554480"/>
            <a:ext cx="5486400" cy="4206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buSzPct val="100000"/>
              <a:buChar char="•"/>
            </a:pPr>
            <a:r>
              <a:rPr lang="en-US" sz="2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Componente funcional: forma mais comum no React moderno.</a:t>
            </a:r>
            <a:endParaRPr lang="en-US" sz="2100" dirty="0"/>
          </a:p>
          <a:p>
            <a:pPr marL="177800" indent="-177800">
              <a:buSzPct val="100000"/>
              <a:buChar char="•"/>
            </a:pPr>
            <a:r>
              <a:rPr lang="en-US" sz="2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Componente baseado em classe: abordagem tradicional, ainda encontrada em projetos antigos.</a:t>
            </a:r>
            <a:endParaRPr lang="en-US" sz="2100" dirty="0"/>
          </a:p>
          <a:p>
            <a:pPr marL="177800" indent="-177800">
              <a:buSzPct val="100000"/>
              <a:buChar char="•"/>
            </a:pPr>
            <a:r>
              <a:rPr lang="en-US" sz="2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Ambos encapsulam estrutura, comportamento e reutilização da UI.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720840" y="1691640"/>
            <a:ext cx="4297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49440" y="196596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Componente funcional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8046720" y="2697480"/>
            <a:ext cx="1645920" cy="640080"/>
          </a:xfrm>
          <a:prstGeom prst="chevron">
            <a:avLst/>
          </a:prstGeom>
          <a:solidFill>
            <a:srgbClr val="DCEBFF"/>
          </a:solidFill>
          <a:ln w="12700">
            <a:solidFill>
              <a:srgbClr val="BFD8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20840" y="3474720"/>
            <a:ext cx="4297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49440" y="374904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Componente de classe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9E9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Componente definido com função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12648" y="822960"/>
            <a:ext cx="10972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5555"/>
                </a:solidFill>
              </a:rPr>
              <a:t>Definição básica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078992"/>
            <a:ext cx="10972800" cy="0"/>
          </a:xfrm>
          <a:prstGeom prst="line">
            <a:avLst/>
          </a:prstGeom>
          <a:noFill/>
          <a:ln w="12700">
            <a:solidFill>
              <a:srgbClr val="CFCF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81328"/>
            <a:ext cx="438912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React, um componente funcional deve retornar um elemento React que represente a interface desejada.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715000" y="1463040"/>
            <a:ext cx="5303520" cy="3657600"/>
          </a:xfrm>
          <a:prstGeom prst="roundRect">
            <a:avLst>
              <a:gd name="adj" fmla="val 1500"/>
            </a:avLst>
          </a:prstGeom>
          <a:solidFill>
            <a:srgbClr val="F7F7F7"/>
          </a:solidFill>
          <a:ln w="12700">
            <a:solidFill>
              <a:srgbClr val="D8D8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60720" y="1508760"/>
            <a:ext cx="5212080" cy="3566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MyComponent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2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'I am so custom'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3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4 </a:t>
            </a:r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5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MyComponent2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6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React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createElement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7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'span'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8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9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'I am so custom'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4434840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55555"/>
                </a:solidFill>
              </a:rPr>
              <a:t>Observação: o retorno literal de texto isolado não é o formato mais útil para compor UI. O padrão é retornar elementos React.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9E9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Componente definido com função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12648" y="822960"/>
            <a:ext cx="10972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5555"/>
                </a:solidFill>
              </a:rPr>
              <a:t>Exemplo sem JSX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078992"/>
            <a:ext cx="10972800" cy="0"/>
          </a:xfrm>
          <a:prstGeom prst="line">
            <a:avLst/>
          </a:prstGeom>
          <a:noFill/>
          <a:ln w="12700">
            <a:solidFill>
              <a:srgbClr val="CFCF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371600"/>
            <a:ext cx="11064240" cy="5029200"/>
          </a:xfrm>
          <a:prstGeom prst="roundRect">
            <a:avLst>
              <a:gd name="adj" fmla="val 1091"/>
            </a:avLst>
          </a:prstGeom>
          <a:solidFill>
            <a:srgbClr val="F7F7F7"/>
          </a:solidFill>
          <a:ln w="12700">
            <a:solidFill>
              <a:srgbClr val="D8D8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417320"/>
            <a:ext cx="10972800" cy="4937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html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2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3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charset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utf-8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4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./react.js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5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./react-dom.js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6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./babel.js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7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8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body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9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div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div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text/babel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const SampleComponent = function() {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React.createElement('i', null, 'I am so custom');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}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ReactDOM.render(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h1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my-heading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SampleComponent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text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h1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document.getElementById('app')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);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body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html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1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9E9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Componente definido com função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12648" y="822960"/>
            <a:ext cx="10972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5555"/>
                </a:solidFill>
              </a:rPr>
              <a:t>Versão com JSX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078992"/>
            <a:ext cx="10972800" cy="0"/>
          </a:xfrm>
          <a:prstGeom prst="line">
            <a:avLst/>
          </a:prstGeom>
          <a:noFill/>
          <a:ln w="12700">
            <a:solidFill>
              <a:srgbClr val="CFCF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371600"/>
            <a:ext cx="11064240" cy="5029200"/>
          </a:xfrm>
          <a:prstGeom prst="roundRect">
            <a:avLst>
              <a:gd name="adj" fmla="val 1091"/>
            </a:avLst>
          </a:prstGeom>
          <a:solidFill>
            <a:srgbClr val="F7F7F7"/>
          </a:solidFill>
          <a:ln w="12700">
            <a:solidFill>
              <a:srgbClr val="D8D8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417320"/>
            <a:ext cx="10972800" cy="4937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html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2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3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charset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utf-8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4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./react.js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5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./react-dom.js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6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./babel.js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7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8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body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9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div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div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text/babel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const SampleComponent = function() {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am so custom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}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ReactDOM.render(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h1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my-heading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SampleComponent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text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h1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document.getElementById('app')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);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body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html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1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9E9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Componente definido com classe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12648" y="822960"/>
            <a:ext cx="10972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5555"/>
                </a:solidFill>
              </a:rPr>
              <a:t>Definição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078992"/>
            <a:ext cx="10972800" cy="0"/>
          </a:xfrm>
          <a:prstGeom prst="line">
            <a:avLst/>
          </a:prstGeom>
          <a:noFill/>
          <a:ln w="12700">
            <a:solidFill>
              <a:srgbClr val="CFCF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91640"/>
            <a:ext cx="4937760" cy="3108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buSzPct val="100000"/>
              <a:buChar char="•"/>
            </a:pPr>
            <a:r>
              <a:rPr lang="en-US" sz="2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classe deve estender React.Component.</a:t>
            </a:r>
            <a:endParaRPr lang="en-US" sz="2200" dirty="0"/>
          </a:p>
          <a:p>
            <a:pPr marL="177800" indent="-177800">
              <a:buSzPct val="100000"/>
              <a:buChar char="•"/>
            </a:pPr>
            <a:r>
              <a:rPr lang="en-US" sz="2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obrigatório definir o método render().</a:t>
            </a:r>
            <a:endParaRPr lang="en-US" sz="2200" dirty="0"/>
          </a:p>
          <a:p>
            <a:pPr marL="177800" indent="-177800">
              <a:buSzPct val="100000"/>
              <a:buChar char="•"/>
            </a:pPr>
            <a:r>
              <a:rPr lang="en-US" sz="2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render() deve retornar o elemento da UI do componente.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080760" y="1737360"/>
            <a:ext cx="4663440" cy="1737360"/>
          </a:xfrm>
          <a:prstGeom prst="roundRect">
            <a:avLst>
              <a:gd name="adj" fmla="val 3158"/>
            </a:avLst>
          </a:prstGeom>
          <a:solidFill>
            <a:srgbClr val="F7F7F7"/>
          </a:solidFill>
          <a:ln w="12700">
            <a:solidFill>
              <a:srgbClr val="D8D8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0" y="1783080"/>
            <a:ext cx="4572000" cy="1645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SampleComponent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extends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Component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am so custom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9E9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Componente definido com classe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12648" y="822960"/>
            <a:ext cx="10972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5555"/>
                </a:solidFill>
              </a:rPr>
              <a:t>Exemplo completo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078992"/>
            <a:ext cx="10972800" cy="0"/>
          </a:xfrm>
          <a:prstGeom prst="line">
            <a:avLst/>
          </a:prstGeom>
          <a:noFill/>
          <a:ln w="12700">
            <a:solidFill>
              <a:srgbClr val="CFCF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371600"/>
            <a:ext cx="11064240" cy="5029200"/>
          </a:xfrm>
          <a:prstGeom prst="roundRect">
            <a:avLst>
              <a:gd name="adj" fmla="val 1091"/>
            </a:avLst>
          </a:prstGeom>
          <a:solidFill>
            <a:srgbClr val="F7F7F7"/>
          </a:solidFill>
          <a:ln w="12700">
            <a:solidFill>
              <a:srgbClr val="D8D8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417320"/>
            <a:ext cx="10972800" cy="4937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html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2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3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charset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utf-8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4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./react.js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5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./react-dom.js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6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./babel.js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7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8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body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9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div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div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text/babel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class SampleComponent extends React.Component {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render() {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return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am so custom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}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ReactDOM.render(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h1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my-heading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SampleComponent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text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h1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document.getElementById('app')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);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body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html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1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E9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Propriedades (Props)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12648" y="822960"/>
            <a:ext cx="10972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5555"/>
                </a:solidFill>
              </a:rPr>
              <a:t>Valores externos recebidos por um componente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078992"/>
            <a:ext cx="10972800" cy="0"/>
          </a:xfrm>
          <a:prstGeom prst="line">
            <a:avLst/>
          </a:prstGeom>
          <a:noFill/>
          <a:ln w="12700">
            <a:solidFill>
              <a:srgbClr val="CFCF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00200"/>
            <a:ext cx="5577840" cy="4114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buSzPct val="100000"/>
              <a:buChar char="•"/>
            </a:pPr>
            <a:r>
              <a:rPr lang="en-US" sz="2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Props permitem passar dados do componente pai para o componente filho.</a:t>
            </a:r>
            <a:endParaRPr lang="en-US" sz="2100" dirty="0"/>
          </a:p>
          <a:p>
            <a:pPr marL="177800" indent="-177800">
              <a:buSzPct val="100000"/>
              <a:buChar char="•"/>
            </a:pPr>
            <a:r>
              <a:rPr lang="en-US" sz="2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Podem conter textos, números, objetos, funções e manipuladores de eventos.</a:t>
            </a:r>
            <a:endParaRPr lang="en-US" sz="2100" dirty="0"/>
          </a:p>
          <a:p>
            <a:pPr marL="177800" indent="-177800">
              <a:buSzPct val="100000"/>
              <a:buChar char="•"/>
            </a:pPr>
            <a:r>
              <a:rPr lang="en-US" sz="2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Props são somente leitura dentro do componente que as recebe.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858000" y="2103120"/>
            <a:ext cx="3017520" cy="0"/>
          </a:xfrm>
          <a:prstGeom prst="line">
            <a:avLst/>
          </a:prstGeom>
          <a:noFill/>
          <a:ln w="25400">
            <a:solidFill>
              <a:srgbClr val="2F80ED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6400800" y="1554480"/>
            <a:ext cx="192024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810512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Pai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144000" y="1554480"/>
            <a:ext cx="192024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0" y="1810512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Filho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9E9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Props em componentes funcionais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12648" y="822960"/>
            <a:ext cx="10972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5555"/>
                </a:solidFill>
              </a:rPr>
              <a:t>Recebimento por parâmetro e desestruturação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078992"/>
            <a:ext cx="10972800" cy="0"/>
          </a:xfrm>
          <a:prstGeom prst="line">
            <a:avLst/>
          </a:prstGeom>
          <a:noFill/>
          <a:ln w="12700">
            <a:solidFill>
              <a:srgbClr val="CFCF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371600"/>
            <a:ext cx="7406640" cy="5029200"/>
          </a:xfrm>
          <a:prstGeom prst="roundRect">
            <a:avLst>
              <a:gd name="adj" fmla="val 1091"/>
            </a:avLst>
          </a:prstGeom>
          <a:solidFill>
            <a:srgbClr val="F7F7F7"/>
          </a:solidFill>
          <a:ln w="12700">
            <a:solidFill>
              <a:srgbClr val="D8D8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417320"/>
            <a:ext cx="7315200" cy="4937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html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2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3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charset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utf-8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4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...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5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6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body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7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div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div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8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text/babel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9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function FunctionSampleComponent({ name }) {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h1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my-heading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{name}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h1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);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}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</a:t>
            </a:r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ReactDOM.render(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h1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my-heading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FunctionSampleComponent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Sample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text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h1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document.getElementById('app')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);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body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html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130" dirty="0"/>
          </a:p>
        </p:txBody>
      </p:sp>
      <p:sp>
        <p:nvSpPr>
          <p:cNvPr id="7" name="Text 5"/>
          <p:cNvSpPr/>
          <p:nvPr/>
        </p:nvSpPr>
        <p:spPr>
          <a:xfrm>
            <a:off x="8275320" y="1783080"/>
            <a:ext cx="2743200" cy="1371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prop name é recebida diretamente no parâmetro da função por desestruturação.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9E9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Props em componentes de classe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12648" y="822960"/>
            <a:ext cx="10972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5555"/>
                </a:solidFill>
              </a:rPr>
              <a:t>Acesso via this.props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078992"/>
            <a:ext cx="10972800" cy="0"/>
          </a:xfrm>
          <a:prstGeom prst="line">
            <a:avLst/>
          </a:prstGeom>
          <a:noFill/>
          <a:ln w="12700">
            <a:solidFill>
              <a:srgbClr val="CFCF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371600"/>
            <a:ext cx="7498080" cy="5029200"/>
          </a:xfrm>
          <a:prstGeom prst="roundRect">
            <a:avLst>
              <a:gd name="adj" fmla="val 1091"/>
            </a:avLst>
          </a:prstGeom>
          <a:solidFill>
            <a:srgbClr val="F7F7F7"/>
          </a:solidFill>
          <a:ln w="12700">
            <a:solidFill>
              <a:srgbClr val="D8D8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417320"/>
            <a:ext cx="7406640" cy="4937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html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2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3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charset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utf-8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4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...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5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6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body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7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div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div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8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text/babel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9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class SampleComponent extends React.Component {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render() {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const name = this.props ? this.props.name : 'undefined';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return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{name}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}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</a:t>
            </a:r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ReactDOM.render(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h1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my-heading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SampleComponent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SampleComponent Properties Test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text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h1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document.getElementById('app')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);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body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html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321040" y="1828800"/>
            <a:ext cx="24688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classes, props são acessadas por this.props.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9E9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defaultProps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12648" y="822960"/>
            <a:ext cx="10972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5555"/>
                </a:solidFill>
              </a:rPr>
              <a:t>Definição de valores padrão para props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078992"/>
            <a:ext cx="10972800" cy="0"/>
          </a:xfrm>
          <a:prstGeom prst="line">
            <a:avLst/>
          </a:prstGeom>
          <a:noFill/>
          <a:ln w="12700">
            <a:solidFill>
              <a:srgbClr val="CFCF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223760" cy="4389120"/>
          </a:xfrm>
          <a:prstGeom prst="roundRect">
            <a:avLst>
              <a:gd name="adj" fmla="val 1250"/>
            </a:avLst>
          </a:prstGeom>
          <a:solidFill>
            <a:srgbClr val="F7F7F7"/>
          </a:solidFill>
          <a:ln w="12700">
            <a:solidFill>
              <a:srgbClr val="D8D8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508760"/>
            <a:ext cx="7132320" cy="4297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SampleComponent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extends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Component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2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3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name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this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props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this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props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'undefined'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4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5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6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7 </a:t>
            </a:r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8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SampleComponent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defaultProps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9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'__undefined__'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</a:t>
            </a:r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ReactDOM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h1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my-heading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SampleComponent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text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h1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document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getElementById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'app'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0" y="1828800"/>
            <a:ext cx="274320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defaultProps define um valor quando a prop não é informada.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Ajuda a evitar valores indefinidos na renderização.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9E9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Estado (State)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12648" y="822960"/>
            <a:ext cx="10972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5555"/>
                </a:solidFill>
              </a:rPr>
              <a:t>Dados internos do componente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078992"/>
            <a:ext cx="10972800" cy="0"/>
          </a:xfrm>
          <a:prstGeom prst="line">
            <a:avLst/>
          </a:prstGeom>
          <a:noFill/>
          <a:ln w="12700">
            <a:solidFill>
              <a:srgbClr val="CFCF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00200"/>
            <a:ext cx="5852160" cy="4480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buSzPct val="100000"/>
              <a:buChar char="•"/>
            </a:pPr>
            <a:r>
              <a:rPr lang="en-US" sz="2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representa informações que mudam ao longo do tempo.</a:t>
            </a:r>
            <a:endParaRPr lang="en-US" sz="2000" dirty="0"/>
          </a:p>
          <a:p>
            <a:pPr marL="177800" indent="-177800">
              <a:buSzPct val="100000"/>
              <a:buChar char="•"/>
            </a:pPr>
            <a:r>
              <a:rPr lang="en-US" sz="2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o estado muda, o componente é renderizado novamente.</a:t>
            </a:r>
            <a:endParaRPr lang="en-US" sz="2000" dirty="0"/>
          </a:p>
          <a:p>
            <a:pPr marL="177800" indent="-177800">
              <a:buSzPct val="100000"/>
              <a:buChar char="•"/>
            </a:pPr>
            <a:r>
              <a:rPr lang="en-US" sz="2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classes, a atualização ocorre com this.setState().</a:t>
            </a:r>
            <a:endParaRPr lang="en-US" sz="2000" dirty="0"/>
          </a:p>
          <a:p>
            <a:pPr marL="177800" indent="-177800">
              <a:buSzPct val="100000"/>
              <a:buChar char="•"/>
            </a:pPr>
            <a:r>
              <a:rPr lang="en-US" sz="2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funções, o padrão moderno é usar Hooks, como useState.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040880" y="1828800"/>
            <a:ext cx="34747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78040" y="2157984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state = dados internos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8046720" y="2971800"/>
            <a:ext cx="1371600" cy="594360"/>
          </a:xfrm>
          <a:prstGeom prst="chevron">
            <a:avLst/>
          </a:prstGeom>
          <a:solidFill>
            <a:srgbClr val="DCEBFF"/>
          </a:solidFill>
          <a:ln w="12700">
            <a:solidFill>
              <a:srgbClr val="BFD8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675120" y="3840480"/>
            <a:ext cx="42062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12280" y="411480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nova renderização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9E9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Exemplo Stateless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12648" y="822960"/>
            <a:ext cx="10972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5555"/>
                </a:solidFill>
              </a:rPr>
              <a:t>Componente sem estado interno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078992"/>
            <a:ext cx="10972800" cy="0"/>
          </a:xfrm>
          <a:prstGeom prst="line">
            <a:avLst/>
          </a:prstGeom>
          <a:noFill/>
          <a:ln w="12700">
            <a:solidFill>
              <a:srgbClr val="CFCF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645920"/>
            <a:ext cx="457200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componente stateless apenas recebe dados e renderiza a interface.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806440" y="1600200"/>
            <a:ext cx="4846320" cy="13716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12700">
            <a:solidFill>
              <a:srgbClr val="D8D8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0" y="1645920"/>
            <a:ext cx="475488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Welcome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props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h1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Olá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props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h1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2743200"/>
            <a:ext cx="457200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buSzPct val="100000"/>
              <a:buChar char="•"/>
            </a:pPr>
            <a:r>
              <a:rPr lang="en-US" sz="2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simples e previsível.</a:t>
            </a:r>
            <a:endParaRPr lang="en-US" sz="2100" dirty="0"/>
          </a:p>
          <a:p>
            <a:pPr marL="177800" indent="-177800">
              <a:buSzPct val="100000"/>
              <a:buChar char="•"/>
            </a:pPr>
            <a:r>
              <a:rPr lang="en-US" sz="2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Fácil de reutilizar e testar.</a:t>
            </a:r>
            <a:endParaRPr lang="en-US" sz="2100" dirty="0"/>
          </a:p>
          <a:p>
            <a:pPr marL="177800" indent="-177800">
              <a:buSzPct val="100000"/>
              <a:buChar char="•"/>
            </a:pPr>
            <a:r>
              <a:rPr lang="en-US" sz="2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mantém dados internos mutáveis.</a:t>
            </a:r>
            <a:endParaRPr lang="en-US" sz="2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9E9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Exemplo Stateful com função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12648" y="822960"/>
            <a:ext cx="10972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5555"/>
                </a:solidFill>
              </a:rPr>
              <a:t>Estado com useState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078992"/>
            <a:ext cx="10972800" cy="0"/>
          </a:xfrm>
          <a:prstGeom prst="line">
            <a:avLst/>
          </a:prstGeom>
          <a:noFill/>
          <a:ln w="12700">
            <a:solidFill>
              <a:srgbClr val="CFCF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463040"/>
            <a:ext cx="6766560" cy="4206240"/>
          </a:xfrm>
          <a:prstGeom prst="roundRect">
            <a:avLst>
              <a:gd name="adj" fmla="val 1304"/>
            </a:avLst>
          </a:prstGeom>
          <a:solidFill>
            <a:srgbClr val="F7F7F7"/>
          </a:solidFill>
          <a:ln w="12700">
            <a:solidFill>
              <a:srgbClr val="D8D8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508760"/>
            <a:ext cx="6675120" cy="4114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Counter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2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setCount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React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useState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3 </a:t>
            </a:r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4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5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div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6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Valor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7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onClick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setCount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8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Incrementar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9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div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20" dirty="0"/>
          </a:p>
        </p:txBody>
      </p:sp>
      <p:sp>
        <p:nvSpPr>
          <p:cNvPr id="7" name="Text 5"/>
          <p:cNvSpPr/>
          <p:nvPr/>
        </p:nvSpPr>
        <p:spPr>
          <a:xfrm>
            <a:off x="7863840" y="1828800"/>
            <a:ext cx="292608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 guarda o valor atual do estado.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setCount altera o estado.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atualizar o estado, o componente renderiza novamente.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9E9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Exemplo Stateful com classe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12648" y="822960"/>
            <a:ext cx="10972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5555"/>
                </a:solidFill>
              </a:rPr>
              <a:t>Estado com this.state e this.setState()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078992"/>
            <a:ext cx="10972800" cy="0"/>
          </a:xfrm>
          <a:prstGeom prst="line">
            <a:avLst/>
          </a:prstGeom>
          <a:noFill/>
          <a:ln w="12700">
            <a:solidFill>
              <a:srgbClr val="CFCF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04088" y="1399032"/>
            <a:ext cx="7360920" cy="4617720"/>
          </a:xfrm>
          <a:prstGeom prst="roundRect">
            <a:avLst>
              <a:gd name="adj" fmla="val 1188"/>
            </a:avLst>
          </a:prstGeom>
          <a:solidFill>
            <a:srgbClr val="F7F7F7"/>
          </a:solidFill>
          <a:ln w="12700">
            <a:solidFill>
              <a:srgbClr val="D8D8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44752"/>
            <a:ext cx="7269480" cy="4526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Counter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extends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Component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2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constructor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props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3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super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props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4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this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5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6 </a:t>
            </a:r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7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8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9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div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Valor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this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onClick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this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setState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this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Incrementar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div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0" y="1828800"/>
            <a:ext cx="27432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classes, o estado fica em this.state e deve ser alterado por this.setState().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9E9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Resumo: Funções x Classes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12648" y="822960"/>
            <a:ext cx="10972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5555"/>
                </a:solidFill>
              </a:rPr>
              <a:t>Comparação final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078992"/>
            <a:ext cx="10972800" cy="0"/>
          </a:xfrm>
          <a:prstGeom prst="line">
            <a:avLst/>
          </a:prstGeom>
          <a:noFill/>
          <a:ln w="12700">
            <a:solidFill>
              <a:srgbClr val="CFCF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645920"/>
            <a:ext cx="484632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87452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111"/>
                </a:solidFill>
              </a:rPr>
              <a:t>Componentes funcionais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051560" y="2331720"/>
            <a:ext cx="429768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buSzPct val="100000"/>
              <a:buChar char="•"/>
            </a:pPr>
            <a:r>
              <a:rPr lang="en-US" sz="1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Sintaxe mais simples.</a:t>
            </a:r>
            <a:endParaRPr lang="en-US" sz="1850" dirty="0"/>
          </a:p>
          <a:p>
            <a:pPr marL="177800" indent="-177800">
              <a:buSzPct val="100000"/>
              <a:buChar char="•"/>
            </a:pPr>
            <a:r>
              <a:rPr lang="en-US" sz="1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usados atualmente.</a:t>
            </a:r>
            <a:endParaRPr lang="en-US" sz="1850" dirty="0"/>
          </a:p>
          <a:p>
            <a:pPr marL="177800" indent="-177800">
              <a:buSzPct val="100000"/>
              <a:buChar char="•"/>
            </a:pPr>
            <a:r>
              <a:rPr lang="en-US" sz="1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Usam Hooks para estado e ciclo de vida.</a:t>
            </a:r>
            <a:endParaRPr lang="en-US" sz="1850" dirty="0"/>
          </a:p>
        </p:txBody>
      </p:sp>
      <p:sp>
        <p:nvSpPr>
          <p:cNvPr id="8" name="Shape 6"/>
          <p:cNvSpPr/>
          <p:nvPr/>
        </p:nvSpPr>
        <p:spPr>
          <a:xfrm>
            <a:off x="6263640" y="1645920"/>
            <a:ext cx="484632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87452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111"/>
                </a:solidFill>
              </a:rPr>
              <a:t>Componentes de classe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492240" y="2331720"/>
            <a:ext cx="429768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buSzPct val="100000"/>
              <a:buChar char="•"/>
            </a:pPr>
            <a:r>
              <a:rPr lang="en-US" sz="182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Importantes para entender a base do React.</a:t>
            </a:r>
            <a:endParaRPr lang="en-US" sz="1820" dirty="0"/>
          </a:p>
          <a:p>
            <a:pPr marL="177800" indent="-177800">
              <a:buSzPct val="100000"/>
              <a:buChar char="•"/>
            </a:pPr>
            <a:r>
              <a:rPr lang="en-US" sz="182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Usam render(), this.props e this.setState().</a:t>
            </a:r>
            <a:endParaRPr lang="en-US" sz="1820" dirty="0"/>
          </a:p>
          <a:p>
            <a:pPr marL="177800" indent="-177800">
              <a:buSzPct val="100000"/>
              <a:buChar char="•"/>
            </a:pPr>
            <a:r>
              <a:rPr lang="en-US" sz="182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comuns em projetos antigos.</a:t>
            </a:r>
            <a:endParaRPr lang="en-US" sz="1820" dirty="0"/>
          </a:p>
        </p:txBody>
      </p:sp>
      <p:sp>
        <p:nvSpPr>
          <p:cNvPr id="11" name="Text 9"/>
          <p:cNvSpPr/>
          <p:nvPr/>
        </p:nvSpPr>
        <p:spPr>
          <a:xfrm>
            <a:off x="1097280" y="5486400"/>
            <a:ext cx="9966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F80ED"/>
                </a:solidFill>
              </a:rPr>
              <a:t>Conclusão: no React moderno, a abordagem funcional é a principal recomendação.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Componentes React JS – Conceitos e Exemplos com Funções</dc:title>
  <dc:subject>Componentes React JS</dc:subject>
  <dc:creator>OpenAI</dc:creator>
  <cp:lastModifiedBy>OpenAI</cp:lastModifiedBy>
  <cp:revision>1</cp:revision>
  <dcterms:created xsi:type="dcterms:W3CDTF">2026-04-06T13:35:03Z</dcterms:created>
  <dcterms:modified xsi:type="dcterms:W3CDTF">2026-04-06T13:35:03Z</dcterms:modified>
</cp:coreProperties>
</file>